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Default Extension="jpg" ContentType="image/jpg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Default Extension="png" ContentType="image/png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</p:sldIdLst>
  <p:sldSz cx="12192000" cy="6858000"/>
  <p:notesSz cx="12192000" cy="68580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750" b="1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750" b="1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750" b="1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750" b="1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275461" y="260985"/>
            <a:ext cx="9641077" cy="8407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750" b="1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09600" y="1577340"/>
            <a:ext cx="1097280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jpg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.jpg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3.jpg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4.jpg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en.wikipedia.org/wiki/Publisher" TargetMode="External"/><Relationship Id="rId3" Type="http://schemas.openxmlformats.org/officeDocument/2006/relationships/hyperlink" Target="https://en.wikipedia.org/wiki/Scientific_journals" TargetMode="External"/><Relationship Id="rId4" Type="http://schemas.openxmlformats.org/officeDocument/2006/relationships/image" Target="../media/image5.png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6.png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www.muhendisbeyinler.net/otonom-araclar/" TargetMode="External"/><Relationship Id="rId3" Type="http://schemas.openxmlformats.org/officeDocument/2006/relationships/image" Target="../media/image7.jpg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8.jpg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9.jpg"/></Relationships>
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0.jpg"/></Relationships>
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1.jpg"/></Relationships>
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2.jpg"/></Relationships>
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3.jpg"/></Relationships>
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4.jpg"/></Relationships>
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5.jpg"/></Relationships>

</file>

<file path=ppt/slides/_rels/slide1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6.jp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507614" y="1659826"/>
            <a:ext cx="7186930" cy="1761489"/>
          </a:xfrm>
          <a:prstGeom prst="rect"/>
        </p:spPr>
        <p:txBody>
          <a:bodyPr wrap="square" lIns="0" tIns="119380" rIns="0" bIns="0" rtlCol="0" vert="horz">
            <a:spAutoFit/>
          </a:bodyPr>
          <a:lstStyle/>
          <a:p>
            <a:pPr marL="495934" marR="5080" indent="-483870">
              <a:lnSpc>
                <a:spcPts val="6459"/>
              </a:lnSpc>
              <a:spcBef>
                <a:spcPts val="940"/>
              </a:spcBef>
            </a:pPr>
            <a:r>
              <a:rPr dirty="0" sz="6000" spc="-365" b="0">
                <a:latin typeface="Trebuchet MS"/>
                <a:cs typeface="Trebuchet MS"/>
              </a:rPr>
              <a:t>Artificial</a:t>
            </a:r>
            <a:r>
              <a:rPr dirty="0" sz="6000" spc="-595" b="0">
                <a:latin typeface="Trebuchet MS"/>
                <a:cs typeface="Trebuchet MS"/>
              </a:rPr>
              <a:t> </a:t>
            </a:r>
            <a:r>
              <a:rPr dirty="0" sz="6000" spc="-335" b="0">
                <a:latin typeface="Trebuchet MS"/>
                <a:cs typeface="Trebuchet MS"/>
              </a:rPr>
              <a:t>Intelligence</a:t>
            </a:r>
            <a:r>
              <a:rPr dirty="0" sz="6000" spc="-620" b="0">
                <a:latin typeface="Trebuchet MS"/>
                <a:cs typeface="Trebuchet MS"/>
              </a:rPr>
              <a:t> </a:t>
            </a:r>
            <a:r>
              <a:rPr dirty="0" sz="6000" spc="-40" b="0">
                <a:latin typeface="Trebuchet MS"/>
                <a:cs typeface="Trebuchet MS"/>
              </a:rPr>
              <a:t>on </a:t>
            </a:r>
            <a:r>
              <a:rPr dirty="0" sz="6000" spc="-325" b="0">
                <a:latin typeface="Trebuchet MS"/>
                <a:cs typeface="Trebuchet MS"/>
              </a:rPr>
              <a:t>Automotive</a:t>
            </a:r>
            <a:r>
              <a:rPr dirty="0" sz="6000" spc="-645" b="0">
                <a:latin typeface="Trebuchet MS"/>
                <a:cs typeface="Trebuchet MS"/>
              </a:rPr>
              <a:t> </a:t>
            </a:r>
            <a:r>
              <a:rPr dirty="0" sz="6000" spc="-280" b="0">
                <a:latin typeface="Trebuchet MS"/>
                <a:cs typeface="Trebuchet MS"/>
              </a:rPr>
              <a:t>Industry</a:t>
            </a:r>
            <a:endParaRPr sz="60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08597" rIns="0" bIns="0" rtlCol="0" vert="horz">
            <a:spAutoFit/>
          </a:bodyPr>
          <a:lstStyle/>
          <a:p>
            <a:pPr marL="1123315">
              <a:lnSpc>
                <a:spcPct val="100000"/>
              </a:lnSpc>
              <a:spcBef>
                <a:spcPts val="125"/>
              </a:spcBef>
            </a:pPr>
            <a:r>
              <a:rPr dirty="0" spc="-165"/>
              <a:t>Figure</a:t>
            </a:r>
            <a:r>
              <a:rPr dirty="0" spc="-180"/>
              <a:t> </a:t>
            </a:r>
            <a:r>
              <a:rPr dirty="0" spc="-110"/>
              <a:t>1.mercedes</a:t>
            </a:r>
            <a:r>
              <a:rPr dirty="0" spc="-225"/>
              <a:t> </a:t>
            </a:r>
            <a:r>
              <a:rPr dirty="0" spc="-125"/>
              <a:t>artificial</a:t>
            </a:r>
            <a:r>
              <a:rPr dirty="0" spc="-155"/>
              <a:t> </a:t>
            </a:r>
            <a:r>
              <a:rPr dirty="0" spc="-125"/>
              <a:t>intelligence</a:t>
            </a:r>
            <a:r>
              <a:rPr dirty="0" spc="-204"/>
              <a:t> </a:t>
            </a:r>
            <a:r>
              <a:rPr dirty="0" spc="-10"/>
              <a:t>assistant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048000" y="2457450"/>
            <a:ext cx="6096000" cy="30861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08597" rIns="0" bIns="0" rtlCol="0" vert="horz">
            <a:spAutoFit/>
          </a:bodyPr>
          <a:lstStyle/>
          <a:p>
            <a:pPr marL="1498600">
              <a:lnSpc>
                <a:spcPct val="100000"/>
              </a:lnSpc>
              <a:spcBef>
                <a:spcPts val="125"/>
              </a:spcBef>
            </a:pPr>
            <a:r>
              <a:rPr dirty="0" spc="-165"/>
              <a:t>Figure</a:t>
            </a:r>
            <a:r>
              <a:rPr dirty="0" spc="-175"/>
              <a:t> 2.Tesla</a:t>
            </a:r>
            <a:r>
              <a:rPr dirty="0" spc="-220"/>
              <a:t> </a:t>
            </a:r>
            <a:r>
              <a:rPr dirty="0" spc="-125"/>
              <a:t>artificial</a:t>
            </a:r>
            <a:r>
              <a:rPr dirty="0" spc="-165"/>
              <a:t> </a:t>
            </a:r>
            <a:r>
              <a:rPr dirty="0" spc="-125"/>
              <a:t>intelligence</a:t>
            </a:r>
            <a:r>
              <a:rPr dirty="0" spc="-215"/>
              <a:t> </a:t>
            </a:r>
            <a:r>
              <a:rPr dirty="0" spc="-10"/>
              <a:t>assistant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048000" y="2295525"/>
            <a:ext cx="6096000" cy="341947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08597" rIns="0" bIns="0" rtlCol="0" vert="horz">
            <a:spAutoFit/>
          </a:bodyPr>
          <a:lstStyle/>
          <a:p>
            <a:pPr marL="2192020">
              <a:lnSpc>
                <a:spcPct val="100000"/>
              </a:lnSpc>
              <a:spcBef>
                <a:spcPts val="125"/>
              </a:spcBef>
            </a:pPr>
            <a:r>
              <a:rPr dirty="0" spc="-165"/>
              <a:t>Figure</a:t>
            </a:r>
            <a:r>
              <a:rPr dirty="0" spc="-204"/>
              <a:t> </a:t>
            </a:r>
            <a:r>
              <a:rPr dirty="0" spc="-135"/>
              <a:t>3.Waymo</a:t>
            </a:r>
            <a:r>
              <a:rPr dirty="0" spc="-200"/>
              <a:t> </a:t>
            </a:r>
            <a:r>
              <a:rPr dirty="0" spc="-100"/>
              <a:t>fully</a:t>
            </a:r>
            <a:r>
              <a:rPr dirty="0" spc="-250"/>
              <a:t> </a:t>
            </a:r>
            <a:r>
              <a:rPr dirty="0" spc="-95"/>
              <a:t>driverless</a:t>
            </a:r>
            <a:r>
              <a:rPr dirty="0" spc="-225"/>
              <a:t> </a:t>
            </a:r>
            <a:r>
              <a:rPr dirty="0" spc="-25"/>
              <a:t>car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228975" y="1943100"/>
            <a:ext cx="573405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537584" y="453707"/>
            <a:ext cx="5125720" cy="448945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pc="-165"/>
              <a:t>Figure</a:t>
            </a:r>
            <a:r>
              <a:rPr dirty="0" spc="-195"/>
              <a:t> </a:t>
            </a:r>
            <a:r>
              <a:rPr dirty="0" spc="-180"/>
              <a:t>4.Tesla</a:t>
            </a:r>
            <a:r>
              <a:rPr dirty="0" spc="-229"/>
              <a:t> </a:t>
            </a:r>
            <a:r>
              <a:rPr dirty="0" spc="-80"/>
              <a:t>autonomous</a:t>
            </a:r>
            <a:r>
              <a:rPr dirty="0" spc="-225"/>
              <a:t> </a:t>
            </a:r>
            <a:r>
              <a:rPr dirty="0" spc="-95"/>
              <a:t>driving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048000" y="2286000"/>
            <a:ext cx="6096000" cy="3429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3729990" y="836930"/>
            <a:ext cx="1343025" cy="9525"/>
          </a:xfrm>
          <a:custGeom>
            <a:avLst/>
            <a:gdLst/>
            <a:ahLst/>
            <a:cxnLst/>
            <a:rect l="l" t="t" r="r" b="b"/>
            <a:pathLst>
              <a:path w="1343025" h="9525">
                <a:moveTo>
                  <a:pt x="1343025" y="0"/>
                </a:moveTo>
                <a:lnTo>
                  <a:pt x="0" y="0"/>
                </a:lnTo>
                <a:lnTo>
                  <a:pt x="0" y="9525"/>
                </a:lnTo>
                <a:lnTo>
                  <a:pt x="1343025" y="9525"/>
                </a:lnTo>
                <a:lnTo>
                  <a:pt x="1343025" y="0"/>
                </a:lnTo>
                <a:close/>
              </a:path>
            </a:pathLst>
          </a:custGeom>
          <a:solidFill>
            <a:srgbClr val="46788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/>
          <p:nvPr/>
        </p:nvSpPr>
        <p:spPr>
          <a:xfrm>
            <a:off x="7435215" y="836930"/>
            <a:ext cx="2524125" cy="9525"/>
          </a:xfrm>
          <a:custGeom>
            <a:avLst/>
            <a:gdLst/>
            <a:ahLst/>
            <a:cxnLst/>
            <a:rect l="l" t="t" r="r" b="b"/>
            <a:pathLst>
              <a:path w="2524125" h="9525">
                <a:moveTo>
                  <a:pt x="2524125" y="0"/>
                </a:moveTo>
                <a:lnTo>
                  <a:pt x="0" y="0"/>
                </a:lnTo>
                <a:lnTo>
                  <a:pt x="0" y="9525"/>
                </a:lnTo>
                <a:lnTo>
                  <a:pt x="2524125" y="9525"/>
                </a:lnTo>
                <a:lnTo>
                  <a:pt x="2524125" y="0"/>
                </a:lnTo>
                <a:close/>
              </a:path>
            </a:pathLst>
          </a:custGeom>
          <a:solidFill>
            <a:srgbClr val="46788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08597" rIns="0" bIns="0" rtlCol="0" vert="horz">
            <a:spAutoFit/>
          </a:bodyPr>
          <a:lstStyle/>
          <a:p>
            <a:pPr marL="252729">
              <a:lnSpc>
                <a:spcPct val="100000"/>
              </a:lnSpc>
              <a:spcBef>
                <a:spcPts val="125"/>
              </a:spcBef>
            </a:pPr>
            <a:r>
              <a:rPr dirty="0" spc="-165"/>
              <a:t>Figure</a:t>
            </a:r>
            <a:r>
              <a:rPr dirty="0" spc="-185"/>
              <a:t> </a:t>
            </a:r>
            <a:r>
              <a:rPr dirty="0" spc="-210"/>
              <a:t>5. </a:t>
            </a:r>
            <a:r>
              <a:rPr dirty="0" spc="50" b="0">
                <a:latin typeface="Trebuchet MS"/>
                <a:cs typeface="Trebuchet MS"/>
              </a:rPr>
              <a:t>MDPI</a:t>
            </a:r>
            <a:r>
              <a:rPr dirty="0" spc="-250" b="0">
                <a:latin typeface="Trebuchet MS"/>
                <a:cs typeface="Trebuchet MS"/>
              </a:rPr>
              <a:t> </a:t>
            </a:r>
            <a:r>
              <a:rPr dirty="0" spc="-110" b="0">
                <a:solidFill>
                  <a:srgbClr val="467885"/>
                </a:solidFill>
                <a:latin typeface="Trebuchet MS"/>
                <a:cs typeface="Trebuchet MS"/>
                <a:hlinkClick r:id="rId2"/>
              </a:rPr>
              <a:t>publisher</a:t>
            </a:r>
            <a:r>
              <a:rPr dirty="0" spc="-210" b="0">
                <a:solidFill>
                  <a:srgbClr val="467885"/>
                </a:solidFill>
                <a:latin typeface="Trebuchet MS"/>
                <a:cs typeface="Trebuchet MS"/>
              </a:rPr>
              <a:t> </a:t>
            </a:r>
            <a:r>
              <a:rPr dirty="0" spc="-160" b="0">
                <a:solidFill>
                  <a:srgbClr val="1F2021"/>
                </a:solidFill>
                <a:latin typeface="Trebuchet MS"/>
                <a:cs typeface="Trebuchet MS"/>
              </a:rPr>
              <a:t>of</a:t>
            </a:r>
            <a:r>
              <a:rPr dirty="0" spc="-215" b="0">
                <a:solidFill>
                  <a:srgbClr val="1F2021"/>
                </a:solidFill>
                <a:latin typeface="Trebuchet MS"/>
                <a:cs typeface="Trebuchet MS"/>
              </a:rPr>
              <a:t> </a:t>
            </a:r>
            <a:r>
              <a:rPr dirty="0" spc="-85" b="0">
                <a:solidFill>
                  <a:srgbClr val="1F2021"/>
                </a:solidFill>
                <a:latin typeface="Trebuchet MS"/>
                <a:cs typeface="Trebuchet MS"/>
              </a:rPr>
              <a:t>open-</a:t>
            </a:r>
            <a:r>
              <a:rPr dirty="0" b="0">
                <a:solidFill>
                  <a:srgbClr val="1F2021"/>
                </a:solidFill>
                <a:latin typeface="Trebuchet MS"/>
                <a:cs typeface="Trebuchet MS"/>
              </a:rPr>
              <a:t>access</a:t>
            </a:r>
            <a:r>
              <a:rPr dirty="0" spc="-220" b="0">
                <a:solidFill>
                  <a:srgbClr val="1F2021"/>
                </a:solidFill>
                <a:latin typeface="Trebuchet MS"/>
                <a:cs typeface="Trebuchet MS"/>
              </a:rPr>
              <a:t> </a:t>
            </a:r>
            <a:r>
              <a:rPr dirty="0" spc="-125" b="0">
                <a:solidFill>
                  <a:srgbClr val="467885"/>
                </a:solidFill>
                <a:latin typeface="Trebuchet MS"/>
                <a:cs typeface="Trebuchet MS"/>
                <a:hlinkClick r:id="rId3"/>
              </a:rPr>
              <a:t>scientific</a:t>
            </a:r>
            <a:r>
              <a:rPr dirty="0" spc="-185" b="0">
                <a:solidFill>
                  <a:srgbClr val="467885"/>
                </a:solidFill>
                <a:latin typeface="Trebuchet MS"/>
                <a:cs typeface="Trebuchet MS"/>
                <a:hlinkClick r:id="rId3"/>
              </a:rPr>
              <a:t> </a:t>
            </a:r>
            <a:r>
              <a:rPr dirty="0" spc="-125" b="0">
                <a:solidFill>
                  <a:srgbClr val="467885"/>
                </a:solidFill>
                <a:latin typeface="Trebuchet MS"/>
                <a:cs typeface="Trebuchet MS"/>
                <a:hlinkClick r:id="rId3"/>
              </a:rPr>
              <a:t>journals</a:t>
            </a:r>
            <a:r>
              <a:rPr dirty="0" spc="-245" b="0">
                <a:solidFill>
                  <a:srgbClr val="467885"/>
                </a:solidFill>
                <a:latin typeface="Trebuchet MS"/>
                <a:cs typeface="Trebuchet MS"/>
              </a:rPr>
              <a:t> </a:t>
            </a:r>
            <a:r>
              <a:rPr dirty="0" spc="-20" b="0">
                <a:latin typeface="Trebuchet MS"/>
                <a:cs typeface="Trebuchet MS"/>
              </a:rPr>
              <a:t>data</a:t>
            </a:r>
          </a:p>
        </p:txBody>
      </p:sp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981450" y="2676525"/>
            <a:ext cx="4600575" cy="279082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841375" y="4859654"/>
            <a:ext cx="5455920" cy="44958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2750" spc="-165" b="1">
                <a:latin typeface="Trebuchet MS"/>
                <a:cs typeface="Trebuchet MS"/>
              </a:rPr>
              <a:t>Figure</a:t>
            </a:r>
            <a:r>
              <a:rPr dirty="0" sz="2750" spc="-195" b="1">
                <a:latin typeface="Trebuchet MS"/>
                <a:cs typeface="Trebuchet MS"/>
              </a:rPr>
              <a:t> </a:t>
            </a:r>
            <a:r>
              <a:rPr dirty="0" sz="2750" spc="-220" b="1">
                <a:latin typeface="Trebuchet MS"/>
                <a:cs typeface="Trebuchet MS"/>
              </a:rPr>
              <a:t>6.</a:t>
            </a:r>
            <a:r>
              <a:rPr dirty="0" sz="2750" spc="-240" b="1">
                <a:latin typeface="Trebuchet MS"/>
                <a:cs typeface="Trebuchet MS"/>
              </a:rPr>
              <a:t> </a:t>
            </a:r>
            <a:r>
              <a:rPr dirty="0" sz="2750" spc="-135" b="1">
                <a:latin typeface="Trebuchet MS"/>
                <a:cs typeface="Trebuchet MS"/>
              </a:rPr>
              <a:t>Providing</a:t>
            </a:r>
            <a:r>
              <a:rPr dirty="0" sz="2750" spc="-215" b="1">
                <a:latin typeface="Trebuchet MS"/>
                <a:cs typeface="Trebuchet MS"/>
              </a:rPr>
              <a:t> </a:t>
            </a:r>
            <a:r>
              <a:rPr dirty="0" sz="2750" spc="-125" b="1">
                <a:latin typeface="Trebuchet MS"/>
                <a:cs typeface="Trebuchet MS"/>
              </a:rPr>
              <a:t>360</a:t>
            </a:r>
            <a:r>
              <a:rPr dirty="0" sz="2750" spc="-254" b="1">
                <a:latin typeface="Trebuchet MS"/>
                <a:cs typeface="Trebuchet MS"/>
              </a:rPr>
              <a:t> </a:t>
            </a:r>
            <a:r>
              <a:rPr dirty="0" sz="2750" spc="-150" b="1">
                <a:latin typeface="Trebuchet MS"/>
                <a:cs typeface="Trebuchet MS"/>
              </a:rPr>
              <a:t>degree</a:t>
            </a:r>
            <a:r>
              <a:rPr dirty="0" sz="2750" spc="-190" b="1">
                <a:latin typeface="Trebuchet MS"/>
                <a:cs typeface="Trebuchet MS"/>
              </a:rPr>
              <a:t> </a:t>
            </a:r>
            <a:r>
              <a:rPr dirty="0" sz="2750" spc="-20" b="1">
                <a:latin typeface="Trebuchet MS"/>
                <a:cs typeface="Trebuchet MS"/>
              </a:rPr>
              <a:t>views</a:t>
            </a:r>
            <a:endParaRPr sz="2750">
              <a:latin typeface="Trebuchet MS"/>
              <a:cs typeface="Trebuchet MS"/>
            </a:endParaRP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4171950"/>
          </a:xfrm>
          <a:prstGeom prst="rect">
            <a:avLst/>
          </a:prstGeom>
        </p:spPr>
      </p:pic>
      <p:sp>
        <p:nvSpPr>
          <p:cNvPr id="4" name="object 4" descr=""/>
          <p:cNvSpPr/>
          <p:nvPr/>
        </p:nvSpPr>
        <p:spPr>
          <a:xfrm>
            <a:off x="866775" y="4810125"/>
            <a:ext cx="737235" cy="0"/>
          </a:xfrm>
          <a:custGeom>
            <a:avLst/>
            <a:gdLst/>
            <a:ahLst/>
            <a:cxnLst/>
            <a:rect l="l" t="t" r="r" b="b"/>
            <a:pathLst>
              <a:path w="737235" h="0">
                <a:moveTo>
                  <a:pt x="0" y="0"/>
                </a:moveTo>
                <a:lnTo>
                  <a:pt x="736981" y="0"/>
                </a:lnTo>
              </a:path>
            </a:pathLst>
          </a:custGeom>
          <a:ln w="57150">
            <a:solidFill>
              <a:srgbClr val="0E9ED4"/>
            </a:solidFill>
          </a:ln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4044315" y="836930"/>
            <a:ext cx="5457825" cy="9525"/>
          </a:xfrm>
          <a:custGeom>
            <a:avLst/>
            <a:gdLst/>
            <a:ahLst/>
            <a:cxnLst/>
            <a:rect l="l" t="t" r="r" b="b"/>
            <a:pathLst>
              <a:path w="5457825" h="9525">
                <a:moveTo>
                  <a:pt x="5457825" y="0"/>
                </a:moveTo>
                <a:lnTo>
                  <a:pt x="0" y="0"/>
                </a:lnTo>
                <a:lnTo>
                  <a:pt x="0" y="9525"/>
                </a:lnTo>
                <a:lnTo>
                  <a:pt x="5457825" y="9525"/>
                </a:lnTo>
                <a:lnTo>
                  <a:pt x="5457825" y="0"/>
                </a:lnTo>
                <a:close/>
              </a:path>
            </a:pathLst>
          </a:custGeom>
          <a:solidFill>
            <a:srgbClr val="46788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08597" rIns="0" bIns="0" rtlCol="0" vert="horz">
            <a:spAutoFit/>
          </a:bodyPr>
          <a:lstStyle/>
          <a:p>
            <a:pPr marL="1416685">
              <a:lnSpc>
                <a:spcPct val="100000"/>
              </a:lnSpc>
              <a:spcBef>
                <a:spcPts val="125"/>
              </a:spcBef>
            </a:pPr>
            <a:r>
              <a:rPr dirty="0" spc="-165"/>
              <a:t>Figure</a:t>
            </a:r>
            <a:r>
              <a:rPr dirty="0" spc="-210"/>
              <a:t> </a:t>
            </a:r>
            <a:r>
              <a:rPr dirty="0" spc="-220"/>
              <a:t>7.</a:t>
            </a:r>
            <a:r>
              <a:rPr dirty="0" spc="-240"/>
              <a:t> </a:t>
            </a:r>
            <a:r>
              <a:rPr dirty="0" spc="-90">
                <a:solidFill>
                  <a:srgbClr val="467885"/>
                </a:solidFill>
                <a:hlinkClick r:id="rId2"/>
              </a:rPr>
              <a:t>Otonom</a:t>
            </a:r>
            <a:r>
              <a:rPr dirty="0" spc="-200">
                <a:solidFill>
                  <a:srgbClr val="467885"/>
                </a:solidFill>
                <a:hlinkClick r:id="rId2"/>
              </a:rPr>
              <a:t> </a:t>
            </a:r>
            <a:r>
              <a:rPr dirty="0" spc="-105">
                <a:solidFill>
                  <a:srgbClr val="467885"/>
                </a:solidFill>
                <a:hlinkClick r:id="rId2"/>
              </a:rPr>
              <a:t>Araçlar</a:t>
            </a:r>
            <a:r>
              <a:rPr dirty="0" spc="-240">
                <a:solidFill>
                  <a:srgbClr val="467885"/>
                </a:solidFill>
                <a:hlinkClick r:id="rId2"/>
              </a:rPr>
              <a:t> </a:t>
            </a:r>
            <a:r>
              <a:rPr dirty="0">
                <a:solidFill>
                  <a:srgbClr val="467885"/>
                </a:solidFill>
                <a:hlinkClick r:id="rId2"/>
              </a:rPr>
              <a:t>-</a:t>
            </a:r>
            <a:r>
              <a:rPr dirty="0" spc="-245">
                <a:solidFill>
                  <a:srgbClr val="467885"/>
                </a:solidFill>
                <a:hlinkClick r:id="rId2"/>
              </a:rPr>
              <a:t> </a:t>
            </a:r>
            <a:r>
              <a:rPr dirty="0" spc="-70">
                <a:solidFill>
                  <a:srgbClr val="467885"/>
                </a:solidFill>
                <a:hlinkClick r:id="rId2"/>
              </a:rPr>
              <a:t>Mühendis</a:t>
            </a:r>
            <a:r>
              <a:rPr dirty="0" spc="-260">
                <a:solidFill>
                  <a:srgbClr val="467885"/>
                </a:solidFill>
                <a:hlinkClick r:id="rId2"/>
              </a:rPr>
              <a:t> </a:t>
            </a:r>
            <a:r>
              <a:rPr dirty="0" spc="-85">
                <a:solidFill>
                  <a:srgbClr val="467885"/>
                </a:solidFill>
                <a:hlinkClick r:id="rId2"/>
              </a:rPr>
              <a:t>Beyinler</a:t>
            </a:r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562350" y="1828800"/>
            <a:ext cx="5067300" cy="435292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08597" rIns="0" bIns="0" rtlCol="0" vert="horz">
            <a:spAutoFit/>
          </a:bodyPr>
          <a:lstStyle/>
          <a:p>
            <a:pPr marL="3283585">
              <a:lnSpc>
                <a:spcPct val="100000"/>
              </a:lnSpc>
              <a:spcBef>
                <a:spcPts val="125"/>
              </a:spcBef>
            </a:pPr>
            <a:r>
              <a:rPr dirty="0" spc="-165"/>
              <a:t>Figure</a:t>
            </a:r>
            <a:r>
              <a:rPr dirty="0" spc="-229"/>
              <a:t> </a:t>
            </a:r>
            <a:r>
              <a:rPr dirty="0" spc="-220"/>
              <a:t>8.</a:t>
            </a:r>
            <a:r>
              <a:rPr dirty="0" spc="-250"/>
              <a:t> </a:t>
            </a:r>
            <a:r>
              <a:rPr dirty="0"/>
              <a:t>LDR</a:t>
            </a:r>
            <a:r>
              <a:rPr dirty="0" spc="-254"/>
              <a:t> </a:t>
            </a:r>
            <a:r>
              <a:rPr dirty="0" spc="-20"/>
              <a:t>sensor</a:t>
            </a: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038600" y="1943100"/>
            <a:ext cx="411480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08597" rIns="0" bIns="0" rtlCol="0" vert="horz">
            <a:spAutoFit/>
          </a:bodyPr>
          <a:lstStyle/>
          <a:p>
            <a:pPr marL="2699385">
              <a:lnSpc>
                <a:spcPct val="100000"/>
              </a:lnSpc>
              <a:spcBef>
                <a:spcPts val="125"/>
              </a:spcBef>
            </a:pPr>
            <a:r>
              <a:rPr dirty="0" spc="-165"/>
              <a:t>Figure</a:t>
            </a:r>
            <a:r>
              <a:rPr dirty="0" spc="-229"/>
              <a:t> </a:t>
            </a:r>
            <a:r>
              <a:rPr dirty="0" spc="-335"/>
              <a:t>G.</a:t>
            </a:r>
            <a:r>
              <a:rPr dirty="0" spc="-250"/>
              <a:t> </a:t>
            </a:r>
            <a:r>
              <a:rPr dirty="0" spc="-20"/>
              <a:t>Bosch</a:t>
            </a:r>
            <a:r>
              <a:rPr dirty="0" spc="-260"/>
              <a:t> </a:t>
            </a:r>
            <a:r>
              <a:rPr dirty="0" spc="-135"/>
              <a:t>radar</a:t>
            </a:r>
            <a:r>
              <a:rPr dirty="0" spc="-250"/>
              <a:t> </a:t>
            </a:r>
            <a:r>
              <a:rPr dirty="0" spc="-25"/>
              <a:t>sensor</a:t>
            </a: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352800" y="1943100"/>
            <a:ext cx="548640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08597" rIns="0" bIns="0" rtlCol="0" vert="horz">
            <a:spAutoFit/>
          </a:bodyPr>
          <a:lstStyle/>
          <a:p>
            <a:pPr marL="2879090">
              <a:lnSpc>
                <a:spcPct val="100000"/>
              </a:lnSpc>
              <a:spcBef>
                <a:spcPts val="125"/>
              </a:spcBef>
            </a:pPr>
            <a:r>
              <a:rPr dirty="0" spc="-165"/>
              <a:t>Figure</a:t>
            </a:r>
            <a:r>
              <a:rPr dirty="0" spc="-220"/>
              <a:t> </a:t>
            </a:r>
            <a:r>
              <a:rPr dirty="0" spc="-195"/>
              <a:t>10.</a:t>
            </a:r>
            <a:r>
              <a:rPr dirty="0" spc="-240"/>
              <a:t> </a:t>
            </a:r>
            <a:r>
              <a:rPr dirty="0" spc="-105"/>
              <a:t>Encoder</a:t>
            </a:r>
            <a:r>
              <a:rPr dirty="0" spc="-250"/>
              <a:t> </a:t>
            </a:r>
            <a:r>
              <a:rPr dirty="0" spc="-10"/>
              <a:t>sensor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781550" y="3133725"/>
            <a:ext cx="2619375" cy="174307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08597" rIns="0" bIns="0" rtlCol="0" vert="horz">
            <a:spAutoFit/>
          </a:bodyPr>
          <a:lstStyle/>
          <a:p>
            <a:pPr marL="2237740">
              <a:lnSpc>
                <a:spcPct val="100000"/>
              </a:lnSpc>
              <a:spcBef>
                <a:spcPts val="125"/>
              </a:spcBef>
            </a:pPr>
            <a:r>
              <a:rPr dirty="0" spc="-165"/>
              <a:t>Figure</a:t>
            </a:r>
            <a:r>
              <a:rPr dirty="0" spc="-204"/>
              <a:t> </a:t>
            </a:r>
            <a:r>
              <a:rPr dirty="0" spc="-195"/>
              <a:t>11.</a:t>
            </a:r>
            <a:r>
              <a:rPr dirty="0" spc="-245"/>
              <a:t> </a:t>
            </a:r>
            <a:r>
              <a:rPr dirty="0"/>
              <a:t>Bosch</a:t>
            </a:r>
            <a:r>
              <a:rPr dirty="0" spc="-270"/>
              <a:t> </a:t>
            </a:r>
            <a:r>
              <a:rPr dirty="0" spc="-95"/>
              <a:t>ultrasonic</a:t>
            </a:r>
            <a:r>
              <a:rPr dirty="0" spc="-254"/>
              <a:t> </a:t>
            </a:r>
            <a:r>
              <a:rPr dirty="0" spc="-10"/>
              <a:t>sensor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271347" y="2617504"/>
            <a:ext cx="3338285" cy="3097495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08597" rIns="0" bIns="0" rtlCol="0" vert="horz">
            <a:spAutoFit/>
          </a:bodyPr>
          <a:lstStyle/>
          <a:p>
            <a:pPr marL="3294379">
              <a:lnSpc>
                <a:spcPct val="100000"/>
              </a:lnSpc>
              <a:spcBef>
                <a:spcPts val="125"/>
              </a:spcBef>
            </a:pPr>
            <a:r>
              <a:rPr dirty="0" spc="-165"/>
              <a:t>Figure</a:t>
            </a:r>
            <a:r>
              <a:rPr dirty="0" spc="-220"/>
              <a:t> </a:t>
            </a:r>
            <a:r>
              <a:rPr dirty="0" spc="-195"/>
              <a:t>12.</a:t>
            </a:r>
            <a:r>
              <a:rPr dirty="0" spc="-245"/>
              <a:t> </a:t>
            </a:r>
            <a:r>
              <a:rPr dirty="0" spc="-55"/>
              <a:t>GPS.802.I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672576" y="1872493"/>
            <a:ext cx="4852297" cy="4079843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060190" y="453707"/>
            <a:ext cx="4078604" cy="448945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pc="-165"/>
              <a:t>Figure</a:t>
            </a:r>
            <a:r>
              <a:rPr dirty="0" spc="-204"/>
              <a:t> </a:t>
            </a:r>
            <a:r>
              <a:rPr dirty="0" spc="-135"/>
              <a:t>13.Logic</a:t>
            </a:r>
            <a:r>
              <a:rPr dirty="0" spc="-245"/>
              <a:t> </a:t>
            </a:r>
            <a:r>
              <a:rPr dirty="0" spc="-105"/>
              <a:t>boarda</a:t>
            </a:r>
            <a:r>
              <a:rPr dirty="0" spc="-175"/>
              <a:t> </a:t>
            </a:r>
            <a:r>
              <a:rPr dirty="0" spc="-90"/>
              <a:t>unit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048000" y="2286000"/>
            <a:ext cx="6096000" cy="3429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08597" rIns="0" bIns="0" rtlCol="0" vert="horz">
            <a:spAutoFit/>
          </a:bodyPr>
          <a:lstStyle/>
          <a:p>
            <a:pPr marL="2196465">
              <a:lnSpc>
                <a:spcPct val="100000"/>
              </a:lnSpc>
              <a:spcBef>
                <a:spcPts val="125"/>
              </a:spcBef>
            </a:pPr>
            <a:r>
              <a:rPr dirty="0" spc="-165"/>
              <a:t>Figure</a:t>
            </a:r>
            <a:r>
              <a:rPr dirty="0" spc="-215"/>
              <a:t> </a:t>
            </a:r>
            <a:r>
              <a:rPr dirty="0" spc="-195"/>
              <a:t>14.</a:t>
            </a:r>
            <a:r>
              <a:rPr dirty="0" spc="-215"/>
              <a:t> </a:t>
            </a:r>
            <a:r>
              <a:rPr dirty="0" spc="-60" b="0">
                <a:latin typeface="Trebuchet MS"/>
                <a:cs typeface="Trebuchet MS"/>
              </a:rPr>
              <a:t>AI</a:t>
            </a:r>
            <a:r>
              <a:rPr dirty="0" spc="-280" b="0">
                <a:latin typeface="Trebuchet MS"/>
                <a:cs typeface="Trebuchet MS"/>
              </a:rPr>
              <a:t> </a:t>
            </a:r>
            <a:r>
              <a:rPr dirty="0" spc="-130" b="0">
                <a:latin typeface="Trebuchet MS"/>
                <a:cs typeface="Trebuchet MS"/>
              </a:rPr>
              <a:t>Hardware</a:t>
            </a:r>
            <a:r>
              <a:rPr dirty="0" spc="-220" b="0">
                <a:latin typeface="Trebuchet MS"/>
                <a:cs typeface="Trebuchet MS"/>
              </a:rPr>
              <a:t> </a:t>
            </a:r>
            <a:r>
              <a:rPr dirty="0" spc="-90" b="0">
                <a:latin typeface="Trebuchet MS"/>
                <a:cs typeface="Trebuchet MS"/>
              </a:rPr>
              <a:t>Technologies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048000" y="1962150"/>
            <a:ext cx="6096000" cy="40767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08597" rIns="0" bIns="0" rtlCol="0" vert="horz">
            <a:spAutoFit/>
          </a:bodyPr>
          <a:lstStyle/>
          <a:p>
            <a:pPr marL="1289685">
              <a:lnSpc>
                <a:spcPct val="100000"/>
              </a:lnSpc>
              <a:spcBef>
                <a:spcPts val="125"/>
              </a:spcBef>
            </a:pPr>
            <a:r>
              <a:rPr dirty="0" spc="-130"/>
              <a:t>Fİgure</a:t>
            </a:r>
            <a:r>
              <a:rPr dirty="0" spc="-265"/>
              <a:t> </a:t>
            </a:r>
            <a:r>
              <a:rPr dirty="0" spc="-195"/>
              <a:t>15. </a:t>
            </a:r>
            <a:r>
              <a:rPr dirty="0" spc="-80"/>
              <a:t>Autonomous</a:t>
            </a:r>
            <a:r>
              <a:rPr dirty="0" spc="-240"/>
              <a:t> </a:t>
            </a:r>
            <a:r>
              <a:rPr dirty="0" spc="-125"/>
              <a:t>vehicle</a:t>
            </a:r>
            <a:r>
              <a:rPr dirty="0" spc="-229"/>
              <a:t> </a:t>
            </a:r>
            <a:r>
              <a:rPr dirty="0" spc="-65"/>
              <a:t>symbolic</a:t>
            </a:r>
            <a:r>
              <a:rPr dirty="0" spc="-220"/>
              <a:t> </a:t>
            </a:r>
            <a:r>
              <a:rPr dirty="0" spc="-10"/>
              <a:t>visual</a:t>
            </a: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038600" y="1943100"/>
            <a:ext cx="411480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52705" rIns="0" bIns="0" rtlCol="0" vert="horz">
            <a:spAutoFit/>
          </a:bodyPr>
          <a:lstStyle/>
          <a:p>
            <a:pPr marL="4370070" marR="5080" indent="-4352290">
              <a:lnSpc>
                <a:spcPts val="3080"/>
              </a:lnSpc>
              <a:spcBef>
                <a:spcPts val="415"/>
              </a:spcBef>
            </a:pPr>
            <a:r>
              <a:rPr dirty="0" spc="-165"/>
              <a:t>Figure</a:t>
            </a:r>
            <a:r>
              <a:rPr dirty="0" spc="-204"/>
              <a:t> </a:t>
            </a:r>
            <a:r>
              <a:rPr dirty="0" spc="-150"/>
              <a:t>16.In</a:t>
            </a:r>
            <a:r>
              <a:rPr dirty="0" spc="-225"/>
              <a:t> </a:t>
            </a:r>
            <a:r>
              <a:rPr dirty="0" spc="-170"/>
              <a:t>the</a:t>
            </a:r>
            <a:r>
              <a:rPr dirty="0" spc="-204"/>
              <a:t> </a:t>
            </a:r>
            <a:r>
              <a:rPr dirty="0" spc="-190"/>
              <a:t>future,</a:t>
            </a:r>
            <a:r>
              <a:rPr dirty="0" spc="-240"/>
              <a:t> </a:t>
            </a:r>
            <a:r>
              <a:rPr dirty="0" spc="-85"/>
              <a:t>vehicles</a:t>
            </a:r>
            <a:r>
              <a:rPr dirty="0" spc="-245"/>
              <a:t> </a:t>
            </a:r>
            <a:r>
              <a:rPr dirty="0" spc="-145"/>
              <a:t>are</a:t>
            </a:r>
            <a:r>
              <a:rPr dirty="0" spc="-275"/>
              <a:t> </a:t>
            </a:r>
            <a:r>
              <a:rPr dirty="0" spc="-130"/>
              <a:t>expected</a:t>
            </a:r>
            <a:r>
              <a:rPr dirty="0" spc="-280"/>
              <a:t> </a:t>
            </a:r>
            <a:r>
              <a:rPr dirty="0" spc="-155"/>
              <a:t>to</a:t>
            </a:r>
            <a:r>
              <a:rPr dirty="0" spc="-210"/>
              <a:t> </a:t>
            </a:r>
            <a:r>
              <a:rPr dirty="0" spc="-100"/>
              <a:t>communicate</a:t>
            </a:r>
            <a:r>
              <a:rPr dirty="0" spc="-210"/>
              <a:t> </a:t>
            </a:r>
            <a:r>
              <a:rPr dirty="0" spc="-25"/>
              <a:t>in </a:t>
            </a:r>
            <a:r>
              <a:rPr dirty="0" spc="-10"/>
              <a:t>traffic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038600" y="1943100"/>
            <a:ext cx="4114800" cy="41148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467885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2024-12-19T18:56:03Z</dcterms:created>
  <dcterms:modified xsi:type="dcterms:W3CDTF">2024-12-19T18:56:03Z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2024-12-19T00:00:00Z</vt:filetime>
  </property>
  <property fmtid="{D5CDD505-2E9C-101B-9397-08002B2CF9AE}" pid="3" name="LastSaved">
    <vt:filetime>2024-12-19T00:00:00Z</vt:filetime>
  </property>
</Properties>
</file>