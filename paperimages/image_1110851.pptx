
<file path=[Content_Types].xml><?xml version="1.0" encoding="utf-8"?>
<Types xmlns="http://schemas.openxmlformats.org/package/2006/content-types">
  <Default Extension="tmp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2" r:id="rId5"/>
    <p:sldId id="260" r:id="rId6"/>
    <p:sldId id="263" r:id="rId7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Orta Stil 2 - Vurgu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65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 smtClean="0"/>
              <a:t>Asıl alt başlık stilini düzenlemek için tıklayın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1AF86-9B7F-4D5C-855F-C4D344991469}" type="datetimeFigureOut">
              <a:rPr lang="tr-TR" smtClean="0"/>
              <a:t>2.08.2024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DEC9C-E1FD-48E2-AEA3-D4057F12157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125853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1AF86-9B7F-4D5C-855F-C4D344991469}" type="datetimeFigureOut">
              <a:rPr lang="tr-TR" smtClean="0"/>
              <a:t>2.08.2024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DEC9C-E1FD-48E2-AEA3-D4057F12157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333356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1AF86-9B7F-4D5C-855F-C4D344991469}" type="datetimeFigureOut">
              <a:rPr lang="tr-TR" smtClean="0"/>
              <a:t>2.08.2024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DEC9C-E1FD-48E2-AEA3-D4057F12157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857916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1AF86-9B7F-4D5C-855F-C4D344991469}" type="datetimeFigureOut">
              <a:rPr lang="tr-TR" smtClean="0"/>
              <a:t>2.08.2024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DEC9C-E1FD-48E2-AEA3-D4057F12157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88948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Metin Yer Tutucusu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6" name="İçerik Yer Tutucus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7" name="Veri Yer Tutucusu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1AF86-9B7F-4D5C-855F-C4D344991469}" type="datetimeFigureOut">
              <a:rPr lang="tr-TR" smtClean="0"/>
              <a:t>2.08.2024</a:t>
            </a:fld>
            <a:endParaRPr lang="tr-TR"/>
          </a:p>
        </p:txBody>
      </p:sp>
      <p:sp>
        <p:nvSpPr>
          <p:cNvPr id="8" name="Altbilgi Yer Tutucusu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DEC9C-E1FD-48E2-AEA3-D4057F12157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49377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1AF86-9B7F-4D5C-855F-C4D344991469}" type="datetimeFigureOut">
              <a:rPr lang="tr-TR" smtClean="0"/>
              <a:t>2.08.2024</a:t>
            </a:fld>
            <a:endParaRPr lang="tr-TR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DEC9C-E1FD-48E2-AEA3-D4057F12157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659228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1AF86-9B7F-4D5C-855F-C4D344991469}" type="datetimeFigureOut">
              <a:rPr lang="tr-TR" smtClean="0"/>
              <a:t>2.08.2024</a:t>
            </a:fld>
            <a:endParaRPr lang="tr-TR"/>
          </a:p>
        </p:txBody>
      </p:sp>
      <p:sp>
        <p:nvSpPr>
          <p:cNvPr id="3" name="Altbilgi Yer Tutucusu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DEC9C-E1FD-48E2-AEA3-D4057F12157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98732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1AF86-9B7F-4D5C-855F-C4D344991469}" type="datetimeFigureOut">
              <a:rPr lang="tr-TR" smtClean="0"/>
              <a:t>2.08.2024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DEC9C-E1FD-48E2-AEA3-D4057F12157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451426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Resim Yer Tutucusu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1AF86-9B7F-4D5C-855F-C4D344991469}" type="datetimeFigureOut">
              <a:rPr lang="tr-TR" smtClean="0"/>
              <a:t>2.08.2024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DEC9C-E1FD-48E2-AEA3-D4057F12157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766059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1AF86-9B7F-4D5C-855F-C4D344991469}" type="datetimeFigureOut">
              <a:rPr lang="tr-TR" smtClean="0"/>
              <a:t>2.08.2024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DEC9C-E1FD-48E2-AEA3-D4057F12157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439478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1AF86-9B7F-4D5C-855F-C4D344991469}" type="datetimeFigureOut">
              <a:rPr lang="tr-TR" smtClean="0"/>
              <a:t>2.08.2024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DEC9C-E1FD-48E2-AEA3-D4057F12157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134008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91AF86-9B7F-4D5C-855F-C4D344991469}" type="datetimeFigureOut">
              <a:rPr lang="tr-TR" smtClean="0"/>
              <a:t>2.08.2024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BDEC9C-E1FD-48E2-AEA3-D4057F12157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75830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ctrTitle"/>
          </p:nvPr>
        </p:nvSpPr>
        <p:spPr>
          <a:xfrm>
            <a:off x="1403928" y="383454"/>
            <a:ext cx="9144000" cy="724910"/>
          </a:xfrm>
        </p:spPr>
        <p:txBody>
          <a:bodyPr>
            <a:normAutofit fontScale="90000"/>
          </a:bodyPr>
          <a:lstStyle/>
          <a:p>
            <a:r>
              <a:rPr lang="tr-TR" sz="1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Length-weight</a:t>
            </a:r>
            <a:r>
              <a:rPr lang="tr-TR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</a:t>
            </a:r>
            <a:r>
              <a:rPr lang="tr-TR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tr-TR" sz="1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tr-TR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blackmouth</a:t>
            </a:r>
            <a:r>
              <a:rPr lang="tr-TR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catshark</a:t>
            </a:r>
            <a:r>
              <a:rPr lang="tr-TR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tr-TR" sz="1800" b="1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Galeus</a:t>
            </a:r>
            <a:r>
              <a:rPr lang="tr-TR" sz="1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b="1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melastomus</a:t>
            </a:r>
            <a:r>
              <a:rPr lang="tr-TR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Rafinesque</a:t>
            </a:r>
            <a:r>
              <a:rPr lang="tr-TR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1810) on </a:t>
            </a:r>
            <a:r>
              <a:rPr lang="tr-TR" sz="1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tr-TR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Turkish</a:t>
            </a:r>
            <a:r>
              <a:rPr lang="tr-TR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coasts</a:t>
            </a:r>
            <a:r>
              <a:rPr lang="tr-TR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tr-TR" sz="1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tr-TR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Mediterranean</a:t>
            </a:r>
            <a:r>
              <a:rPr lang="tr-TR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Sea</a:t>
            </a:r>
            <a:r>
              <a:rPr lang="tr-TR" sz="1200" dirty="0" smtClean="0"/>
              <a:t/>
            </a:r>
            <a:br>
              <a:rPr lang="tr-TR" sz="1200" dirty="0" smtClean="0"/>
            </a:br>
            <a:endParaRPr lang="tr-TR" sz="1200" dirty="0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1403928" y="1422399"/>
            <a:ext cx="9144000" cy="5043055"/>
          </a:xfrm>
        </p:spPr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study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investigates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between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total 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length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body 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weight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blackmouth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catshark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tr-TR" sz="1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Galeus</a:t>
            </a:r>
            <a:r>
              <a:rPr lang="tr-TR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melastomus</a:t>
            </a:r>
            <a:r>
              <a:rPr lang="tr-TR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sampled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along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Mediterranean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coast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Türkiye 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within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boundaries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Geographical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Sub-Area24 (GFCM GSA24) </a:t>
            </a:r>
            <a:r>
              <a:rPr lang="tr-TR" sz="1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during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August</a:t>
            </a:r>
            <a:r>
              <a:rPr lang="tr-TR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tr-TR" sz="1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September</a:t>
            </a:r>
            <a:r>
              <a:rPr lang="tr-TR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2023.</a:t>
            </a:r>
          </a:p>
          <a:p>
            <a:pPr algn="just"/>
            <a:r>
              <a:rPr lang="tr-TR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</a:t>
            </a:r>
            <a:r>
              <a:rPr lang="tr-TR" dirty="0" smtClean="0"/>
              <a:t/>
            </a:r>
            <a:br>
              <a:rPr lang="tr-TR" dirty="0" smtClean="0"/>
            </a:br>
            <a:endParaRPr lang="tr-TR" dirty="0"/>
          </a:p>
        </p:txBody>
      </p:sp>
      <p:pic>
        <p:nvPicPr>
          <p:cNvPr id="7" name="Resim 6" descr="Ekran Kırpma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2127" y="2763715"/>
            <a:ext cx="8635970" cy="2360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87728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ctrTitle"/>
          </p:nvPr>
        </p:nvSpPr>
        <p:spPr>
          <a:xfrm>
            <a:off x="1403928" y="383454"/>
            <a:ext cx="9144000" cy="724910"/>
          </a:xfrm>
        </p:spPr>
        <p:txBody>
          <a:bodyPr>
            <a:normAutofit fontScale="90000"/>
          </a:bodyPr>
          <a:lstStyle/>
          <a:p>
            <a:r>
              <a:rPr lang="tr-TR" sz="1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Length-weight</a:t>
            </a:r>
            <a:r>
              <a:rPr lang="tr-TR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</a:t>
            </a:r>
            <a:r>
              <a:rPr lang="tr-TR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tr-TR" sz="1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tr-TR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blackmouth</a:t>
            </a:r>
            <a:r>
              <a:rPr lang="tr-TR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catshark</a:t>
            </a:r>
            <a:r>
              <a:rPr lang="tr-TR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tr-TR" sz="1800" b="1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Galeus</a:t>
            </a:r>
            <a:r>
              <a:rPr lang="tr-TR" sz="1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b="1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melastomus</a:t>
            </a:r>
            <a:r>
              <a:rPr lang="tr-TR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Rafinesque</a:t>
            </a:r>
            <a:r>
              <a:rPr lang="tr-TR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1810) on </a:t>
            </a:r>
            <a:r>
              <a:rPr lang="tr-TR" sz="1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tr-TR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Turkish</a:t>
            </a:r>
            <a:r>
              <a:rPr lang="tr-TR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coasts</a:t>
            </a:r>
            <a:r>
              <a:rPr lang="tr-TR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tr-TR" sz="1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tr-TR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Mediterranean</a:t>
            </a:r>
            <a:r>
              <a:rPr lang="tr-TR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Sea</a:t>
            </a:r>
            <a:r>
              <a:rPr lang="tr-TR" sz="1200" dirty="0" smtClean="0"/>
              <a:t/>
            </a:r>
            <a:br>
              <a:rPr lang="tr-TR" sz="1200" dirty="0" smtClean="0"/>
            </a:br>
            <a:endParaRPr lang="tr-TR" sz="1200" dirty="0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1403928" y="1422399"/>
            <a:ext cx="9144000" cy="5043055"/>
          </a:xfrm>
        </p:spPr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blackmouth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catshark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samples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were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collected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during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bottom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trawl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survey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along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Mediterranean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coast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Türkiye 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within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boundaries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Geographical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Sub-Area24 (GFCM GSA24</a:t>
            </a:r>
            <a:r>
              <a:rPr lang="tr-TR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Altogether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54 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bottom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trawl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operations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were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performed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 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depths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ranging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50 to 800 m 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R/V Akdeniz Araştırma 1 in 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August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September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2023. 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blackmouth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catshark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specimens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were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captured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only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8 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trawls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towed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 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depths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ranging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420 to 780 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meters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trawl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haulings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were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conducted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following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standard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survey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sampling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protocol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outlined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MEDITS </a:t>
            </a:r>
            <a:r>
              <a:rPr lang="tr-TR" sz="1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Handbook</a:t>
            </a:r>
            <a:r>
              <a:rPr lang="tr-TR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tr-TR" dirty="0" smtClean="0"/>
              <a:t/>
            </a:r>
            <a:br>
              <a:rPr lang="tr-TR" dirty="0" smtClean="0"/>
            </a:br>
            <a:endParaRPr lang="tr-TR" dirty="0"/>
          </a:p>
        </p:txBody>
      </p:sp>
      <p:pic>
        <p:nvPicPr>
          <p:cNvPr id="5" name="Resim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8975" y="3308579"/>
            <a:ext cx="8828953" cy="2916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42607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ctrTitle"/>
          </p:nvPr>
        </p:nvSpPr>
        <p:spPr>
          <a:xfrm>
            <a:off x="1403928" y="383454"/>
            <a:ext cx="9144000" cy="724910"/>
          </a:xfrm>
        </p:spPr>
        <p:txBody>
          <a:bodyPr>
            <a:normAutofit fontScale="90000"/>
          </a:bodyPr>
          <a:lstStyle/>
          <a:p>
            <a:r>
              <a:rPr lang="tr-TR" sz="1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Length-weight</a:t>
            </a:r>
            <a:r>
              <a:rPr lang="tr-TR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</a:t>
            </a:r>
            <a:r>
              <a:rPr lang="tr-TR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tr-TR" sz="1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tr-TR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blackmouth</a:t>
            </a:r>
            <a:r>
              <a:rPr lang="tr-TR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catshark</a:t>
            </a:r>
            <a:r>
              <a:rPr lang="tr-TR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tr-TR" sz="1800" b="1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Galeus</a:t>
            </a:r>
            <a:r>
              <a:rPr lang="tr-TR" sz="1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b="1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melastomus</a:t>
            </a:r>
            <a:r>
              <a:rPr lang="tr-TR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Rafinesque</a:t>
            </a:r>
            <a:r>
              <a:rPr lang="tr-TR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1810) on </a:t>
            </a:r>
            <a:r>
              <a:rPr lang="tr-TR" sz="1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tr-TR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Turkish</a:t>
            </a:r>
            <a:r>
              <a:rPr lang="tr-TR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coasts</a:t>
            </a:r>
            <a:r>
              <a:rPr lang="tr-TR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tr-TR" sz="1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tr-TR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Mediterranean</a:t>
            </a:r>
            <a:r>
              <a:rPr lang="tr-TR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Sea</a:t>
            </a:r>
            <a:r>
              <a:rPr lang="tr-TR" sz="1200" dirty="0" smtClean="0"/>
              <a:t/>
            </a:r>
            <a:br>
              <a:rPr lang="tr-TR" sz="1200" dirty="0" smtClean="0"/>
            </a:br>
            <a:endParaRPr lang="tr-TR" sz="1200" dirty="0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1403928" y="1422399"/>
            <a:ext cx="9144000" cy="5043055"/>
          </a:xfrm>
        </p:spPr>
        <p:txBody>
          <a:bodyPr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total of 336 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blackmouth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catshark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specimens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106 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females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230 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males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were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examined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Their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body 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weight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ranged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13 to 630 g, 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while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their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total 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length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varied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16.1 to 54.2 </a:t>
            </a:r>
            <a:r>
              <a:rPr lang="tr-TR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cm. A 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significantly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higher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number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males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were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captured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than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females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especially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among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individuals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measuring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between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30 and 50 cm. 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However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females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were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more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dominant in 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individuals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larger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than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50 cm.</a:t>
            </a:r>
          </a:p>
          <a:p>
            <a:pPr algn="just"/>
            <a:r>
              <a:rPr lang="tr-TR" dirty="0" smtClean="0"/>
              <a:t/>
            </a:r>
            <a:br>
              <a:rPr lang="tr-TR" dirty="0" smtClean="0"/>
            </a:br>
            <a:endParaRPr lang="tr-TR" dirty="0"/>
          </a:p>
        </p:txBody>
      </p:sp>
      <p:pic>
        <p:nvPicPr>
          <p:cNvPr id="6" name="Resim 5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6531" y="2695113"/>
            <a:ext cx="4678794" cy="3613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1728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ctrTitle"/>
          </p:nvPr>
        </p:nvSpPr>
        <p:spPr>
          <a:xfrm>
            <a:off x="1403928" y="383454"/>
            <a:ext cx="9144000" cy="724910"/>
          </a:xfrm>
        </p:spPr>
        <p:txBody>
          <a:bodyPr>
            <a:normAutofit fontScale="90000"/>
          </a:bodyPr>
          <a:lstStyle/>
          <a:p>
            <a:r>
              <a:rPr lang="tr-TR" sz="1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Length-weight</a:t>
            </a:r>
            <a:r>
              <a:rPr lang="tr-TR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</a:t>
            </a:r>
            <a:r>
              <a:rPr lang="tr-TR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tr-TR" sz="1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tr-TR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blackmouth</a:t>
            </a:r>
            <a:r>
              <a:rPr lang="tr-TR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catshark</a:t>
            </a:r>
            <a:r>
              <a:rPr lang="tr-TR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tr-TR" sz="1800" b="1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Galeus</a:t>
            </a:r>
            <a:r>
              <a:rPr lang="tr-TR" sz="1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b="1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melastomus</a:t>
            </a:r>
            <a:r>
              <a:rPr lang="tr-TR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Rafinesque</a:t>
            </a:r>
            <a:r>
              <a:rPr lang="tr-TR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1810) on </a:t>
            </a:r>
            <a:r>
              <a:rPr lang="tr-TR" sz="1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tr-TR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Turkish</a:t>
            </a:r>
            <a:r>
              <a:rPr lang="tr-TR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coasts</a:t>
            </a:r>
            <a:r>
              <a:rPr lang="tr-TR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tr-TR" sz="1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tr-TR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Mediterranean</a:t>
            </a:r>
            <a:r>
              <a:rPr lang="tr-TR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Sea</a:t>
            </a:r>
            <a:r>
              <a:rPr lang="tr-TR" sz="1200" dirty="0" smtClean="0"/>
              <a:t/>
            </a:r>
            <a:br>
              <a:rPr lang="tr-TR" sz="1200" dirty="0" smtClean="0"/>
            </a:br>
            <a:endParaRPr lang="tr-TR" sz="1200" dirty="0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1403929" y="1422399"/>
            <a:ext cx="4488872" cy="5043055"/>
          </a:xfrm>
        </p:spPr>
        <p:txBody>
          <a:bodyPr>
            <a:normAutofit lnSpcReduction="10000"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total length-weight relationships for females, males, and combined are reported . This relationship is also represented graphically for males and females. b values together with their confidence intervals (± 95%) were calculated as 3.13 ± 0.087 for females, 2.94 ± 0.051 for males and 3 ± 0.045 for all individuals. Since the lower and upper confidence interval values of the b for both males and females differ from the theoretical value of 3, they exhibit </a:t>
            </a:r>
            <a:r>
              <a:rPr lang="en-US" sz="1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allometric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growth (negative </a:t>
            </a:r>
            <a:r>
              <a:rPr lang="en-US" sz="1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allometry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for males, positive </a:t>
            </a:r>
            <a:r>
              <a:rPr lang="en-US" sz="1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allometry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for females). However, upon examining all fish, it is observed that they show isometric growth because the 95% confidence interval values of b include 3.</a:t>
            </a:r>
            <a:endParaRPr lang="tr-TR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tr-TR" dirty="0" smtClean="0"/>
              <a:t/>
            </a:r>
            <a:br>
              <a:rPr lang="tr-TR" dirty="0" smtClean="0"/>
            </a:br>
            <a:endParaRPr lang="tr-TR" dirty="0"/>
          </a:p>
        </p:txBody>
      </p:sp>
      <p:pic>
        <p:nvPicPr>
          <p:cNvPr id="5" name="Resim 4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2801" y="1422399"/>
            <a:ext cx="5759450" cy="4319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41013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ctrTitle"/>
          </p:nvPr>
        </p:nvSpPr>
        <p:spPr>
          <a:xfrm>
            <a:off x="1403928" y="383454"/>
            <a:ext cx="9144000" cy="724910"/>
          </a:xfrm>
        </p:spPr>
        <p:txBody>
          <a:bodyPr>
            <a:normAutofit fontScale="90000"/>
          </a:bodyPr>
          <a:lstStyle/>
          <a:p>
            <a:r>
              <a:rPr lang="tr-TR" sz="1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Length-weight</a:t>
            </a:r>
            <a:r>
              <a:rPr lang="tr-TR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</a:t>
            </a:r>
            <a:r>
              <a:rPr lang="tr-TR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tr-TR" sz="1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tr-TR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blackmouth</a:t>
            </a:r>
            <a:r>
              <a:rPr lang="tr-TR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catshark</a:t>
            </a:r>
            <a:r>
              <a:rPr lang="tr-TR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tr-TR" sz="1800" b="1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Galeus</a:t>
            </a:r>
            <a:r>
              <a:rPr lang="tr-TR" sz="1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b="1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melastomus</a:t>
            </a:r>
            <a:r>
              <a:rPr lang="tr-TR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Rafinesque</a:t>
            </a:r>
            <a:r>
              <a:rPr lang="tr-TR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1810) on </a:t>
            </a:r>
            <a:r>
              <a:rPr lang="tr-TR" sz="1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tr-TR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Turkish</a:t>
            </a:r>
            <a:r>
              <a:rPr lang="tr-TR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coasts</a:t>
            </a:r>
            <a:r>
              <a:rPr lang="tr-TR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tr-TR" sz="1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tr-TR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Mediterranean</a:t>
            </a:r>
            <a:r>
              <a:rPr lang="tr-TR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Sea</a:t>
            </a:r>
            <a:r>
              <a:rPr lang="tr-TR" sz="1200" dirty="0" smtClean="0"/>
              <a:t/>
            </a:r>
            <a:br>
              <a:rPr lang="tr-TR" sz="1200" dirty="0" smtClean="0"/>
            </a:br>
            <a:endParaRPr lang="tr-TR" sz="1200" dirty="0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1403928" y="1422399"/>
            <a:ext cx="5126181" cy="5043055"/>
          </a:xfrm>
        </p:spPr>
        <p:txBody>
          <a:bodyPr>
            <a:normAutofit fontScale="85000" lnSpcReduction="20000"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Some of the previous studies providing length-weight relationships for black-bellied catfish from various localities in the Mediterranean are reported in the table. The table shows that some studies give comparable results, while others Show</a:t>
            </a:r>
            <a:r>
              <a:rPr lang="tr-TR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differences.</a:t>
            </a:r>
            <a:endParaRPr lang="tr-TR" sz="21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tr-TR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tr-TR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existing</a:t>
            </a:r>
            <a:r>
              <a:rPr lang="tr-TR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differences</a:t>
            </a:r>
            <a:r>
              <a:rPr lang="tr-TR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be </a:t>
            </a:r>
            <a:r>
              <a:rPr lang="tr-TR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ascribed</a:t>
            </a:r>
            <a:r>
              <a:rPr lang="tr-TR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tr-TR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discrepancies</a:t>
            </a:r>
            <a:r>
              <a:rPr lang="tr-TR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tr-TR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sample</a:t>
            </a:r>
            <a:r>
              <a:rPr lang="tr-TR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size, </a:t>
            </a:r>
            <a:r>
              <a:rPr lang="tr-TR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duration</a:t>
            </a:r>
            <a:r>
              <a:rPr lang="tr-TR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tr-TR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sampling</a:t>
            </a:r>
            <a:r>
              <a:rPr lang="tr-TR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tr-TR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sampling</a:t>
            </a:r>
            <a:r>
              <a:rPr lang="tr-TR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location</a:t>
            </a:r>
            <a:r>
              <a:rPr lang="tr-TR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as </a:t>
            </a:r>
            <a:r>
              <a:rPr lang="tr-TR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diverse</a:t>
            </a:r>
            <a:r>
              <a:rPr lang="tr-TR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</a:t>
            </a:r>
            <a:r>
              <a:rPr lang="tr-TR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conditions</a:t>
            </a:r>
            <a:r>
              <a:rPr lang="tr-TR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may</a:t>
            </a:r>
            <a:r>
              <a:rPr lang="tr-TR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influence</a:t>
            </a:r>
            <a:r>
              <a:rPr lang="tr-TR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1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growth</a:t>
            </a:r>
            <a:endParaRPr lang="tr-TR" sz="21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tr-TR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tr-TR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study</a:t>
            </a:r>
            <a:r>
              <a:rPr lang="tr-TR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yielded</a:t>
            </a:r>
            <a:r>
              <a:rPr lang="tr-TR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high</a:t>
            </a:r>
            <a:r>
              <a:rPr lang="tr-TR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coefficient</a:t>
            </a:r>
            <a:r>
              <a:rPr lang="tr-TR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tr-TR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determination</a:t>
            </a:r>
            <a:r>
              <a:rPr lang="tr-TR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values</a:t>
            </a:r>
            <a:r>
              <a:rPr lang="tr-TR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(r2=0.97 </a:t>
            </a:r>
            <a:r>
              <a:rPr lang="tr-TR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tr-TR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females</a:t>
            </a:r>
            <a:r>
              <a:rPr lang="tr-TR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r2=0.98 </a:t>
            </a:r>
            <a:r>
              <a:rPr lang="tr-TR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tr-TR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males</a:t>
            </a:r>
            <a:r>
              <a:rPr lang="tr-TR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tr-TR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indicating</a:t>
            </a:r>
            <a:r>
              <a:rPr lang="tr-TR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tr-TR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strong</a:t>
            </a:r>
            <a:r>
              <a:rPr lang="tr-TR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predictive</a:t>
            </a:r>
            <a:r>
              <a:rPr lang="tr-TR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accuracy</a:t>
            </a:r>
            <a:r>
              <a:rPr lang="tr-TR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tr-TR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tr-TR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linear</a:t>
            </a:r>
            <a:r>
              <a:rPr lang="tr-TR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regression</a:t>
            </a:r>
            <a:r>
              <a:rPr lang="tr-TR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 </a:t>
            </a:r>
            <a:r>
              <a:rPr lang="tr-TR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tr-TR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tr-TR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species</a:t>
            </a:r>
            <a:r>
              <a:rPr lang="tr-TR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under</a:t>
            </a:r>
            <a:r>
              <a:rPr lang="tr-TR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analysis. </a:t>
            </a:r>
            <a:r>
              <a:rPr lang="tr-TR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lang="tr-TR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suggests</a:t>
            </a:r>
            <a:r>
              <a:rPr lang="tr-TR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lang="tr-TR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extrapolation</a:t>
            </a:r>
            <a:r>
              <a:rPr lang="tr-TR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tr-TR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future</a:t>
            </a:r>
            <a:r>
              <a:rPr lang="tr-TR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catches</a:t>
            </a:r>
            <a:r>
              <a:rPr lang="tr-TR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within</a:t>
            </a:r>
            <a:r>
              <a:rPr lang="tr-TR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tr-TR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comparable</a:t>
            </a:r>
            <a:r>
              <a:rPr lang="tr-TR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size </a:t>
            </a:r>
            <a:r>
              <a:rPr lang="tr-TR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range</a:t>
            </a:r>
            <a:r>
              <a:rPr lang="tr-TR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tr-TR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geographical</a:t>
            </a:r>
            <a:r>
              <a:rPr lang="tr-TR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location</a:t>
            </a:r>
            <a:r>
              <a:rPr lang="tr-TR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tr-TR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tr-TR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specimen</a:t>
            </a:r>
            <a:r>
              <a:rPr lang="tr-TR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</a:t>
            </a:r>
            <a:r>
              <a:rPr lang="tr-TR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feasible</a:t>
            </a:r>
            <a:r>
              <a:rPr lang="tr-TR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tr-TR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tr-TR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800" dirty="0" smtClean="0"/>
              <a:t> </a:t>
            </a:r>
            <a:r>
              <a:rPr lang="tr-TR" dirty="0" smtClean="0"/>
              <a:t/>
            </a:r>
            <a:br>
              <a:rPr lang="tr-TR" dirty="0" smtClean="0"/>
            </a:br>
            <a:endParaRPr lang="tr-TR" dirty="0"/>
          </a:p>
        </p:txBody>
      </p:sp>
      <p:graphicFrame>
        <p:nvGraphicFramePr>
          <p:cNvPr id="4" name="Tablo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1427606"/>
              </p:ext>
            </p:extLst>
          </p:nvPr>
        </p:nvGraphicFramePr>
        <p:xfrm>
          <a:off x="6640946" y="1108364"/>
          <a:ext cx="4077614" cy="557765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48851">
                  <a:extLst>
                    <a:ext uri="{9D8B030D-6E8A-4147-A177-3AD203B41FA5}">
                      <a16:colId xmlns:a16="http://schemas.microsoft.com/office/drawing/2014/main" val="1296507994"/>
                    </a:ext>
                  </a:extLst>
                </a:gridCol>
                <a:gridCol w="507550">
                  <a:extLst>
                    <a:ext uri="{9D8B030D-6E8A-4147-A177-3AD203B41FA5}">
                      <a16:colId xmlns:a16="http://schemas.microsoft.com/office/drawing/2014/main" val="1912152877"/>
                    </a:ext>
                  </a:extLst>
                </a:gridCol>
                <a:gridCol w="335424">
                  <a:extLst>
                    <a:ext uri="{9D8B030D-6E8A-4147-A177-3AD203B41FA5}">
                      <a16:colId xmlns:a16="http://schemas.microsoft.com/office/drawing/2014/main" val="3990923185"/>
                    </a:ext>
                  </a:extLst>
                </a:gridCol>
                <a:gridCol w="349989">
                  <a:extLst>
                    <a:ext uri="{9D8B030D-6E8A-4147-A177-3AD203B41FA5}">
                      <a16:colId xmlns:a16="http://schemas.microsoft.com/office/drawing/2014/main" val="650156170"/>
                    </a:ext>
                  </a:extLst>
                </a:gridCol>
                <a:gridCol w="347341">
                  <a:extLst>
                    <a:ext uri="{9D8B030D-6E8A-4147-A177-3AD203B41FA5}">
                      <a16:colId xmlns:a16="http://schemas.microsoft.com/office/drawing/2014/main" val="2266020570"/>
                    </a:ext>
                  </a:extLst>
                </a:gridCol>
                <a:gridCol w="347341">
                  <a:extLst>
                    <a:ext uri="{9D8B030D-6E8A-4147-A177-3AD203B41FA5}">
                      <a16:colId xmlns:a16="http://schemas.microsoft.com/office/drawing/2014/main" val="1813574663"/>
                    </a:ext>
                  </a:extLst>
                </a:gridCol>
                <a:gridCol w="360140">
                  <a:extLst>
                    <a:ext uri="{9D8B030D-6E8A-4147-A177-3AD203B41FA5}">
                      <a16:colId xmlns:a16="http://schemas.microsoft.com/office/drawing/2014/main" val="1105372069"/>
                    </a:ext>
                  </a:extLst>
                </a:gridCol>
                <a:gridCol w="360140">
                  <a:extLst>
                    <a:ext uri="{9D8B030D-6E8A-4147-A177-3AD203B41FA5}">
                      <a16:colId xmlns:a16="http://schemas.microsoft.com/office/drawing/2014/main" val="1767763067"/>
                    </a:ext>
                  </a:extLst>
                </a:gridCol>
                <a:gridCol w="315564">
                  <a:extLst>
                    <a:ext uri="{9D8B030D-6E8A-4147-A177-3AD203B41FA5}">
                      <a16:colId xmlns:a16="http://schemas.microsoft.com/office/drawing/2014/main" val="4056557875"/>
                    </a:ext>
                  </a:extLst>
                </a:gridCol>
                <a:gridCol w="352637">
                  <a:extLst>
                    <a:ext uri="{9D8B030D-6E8A-4147-A177-3AD203B41FA5}">
                      <a16:colId xmlns:a16="http://schemas.microsoft.com/office/drawing/2014/main" val="2307710509"/>
                    </a:ext>
                  </a:extLst>
                </a:gridCol>
                <a:gridCol w="352637">
                  <a:extLst>
                    <a:ext uri="{9D8B030D-6E8A-4147-A177-3AD203B41FA5}">
                      <a16:colId xmlns:a16="http://schemas.microsoft.com/office/drawing/2014/main" val="63252093"/>
                    </a:ext>
                  </a:extLst>
                </a:gridCol>
              </a:tblGrid>
              <a:tr h="271959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Authors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Areas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Depth</a:t>
                      </a:r>
                      <a:endParaRPr lang="tr-TR" sz="800">
                        <a:effectLst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(m)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Gender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Total</a:t>
                      </a:r>
                      <a:endParaRPr lang="tr-TR" sz="800">
                        <a:effectLst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Length</a:t>
                      </a:r>
                      <a:endParaRPr lang="tr-TR" sz="800">
                        <a:effectLst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(mm)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Body</a:t>
                      </a:r>
                      <a:endParaRPr lang="tr-TR" sz="800">
                        <a:effectLst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Weight</a:t>
                      </a:r>
                      <a:endParaRPr lang="tr-TR" sz="800">
                        <a:effectLst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(g)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N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a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b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r2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Growth</a:t>
                      </a:r>
                      <a:endParaRPr lang="tr-TR" sz="800">
                        <a:effectLst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Type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extLst>
                  <a:ext uri="{0D108BD9-81ED-4DB2-BD59-A6C34878D82A}">
                    <a16:rowId xmlns:a16="http://schemas.microsoft.com/office/drawing/2014/main" val="2388109648"/>
                  </a:ext>
                </a:extLst>
              </a:tr>
              <a:tr h="90653">
                <a:tc rowSpan="2"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Rinelli et al. (2005)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 rowSpan="2"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Tyrrhenian Sea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 rowSpan="2"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300 - 700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F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140-500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-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509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0.084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2.96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0.98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I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extLst>
                  <a:ext uri="{0D108BD9-81ED-4DB2-BD59-A6C34878D82A}">
                    <a16:rowId xmlns:a16="http://schemas.microsoft.com/office/drawing/2014/main" val="758602978"/>
                  </a:ext>
                </a:extLst>
              </a:tr>
              <a:tr h="90653"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M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135-500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-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537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0.078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3.01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0.98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I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extLst>
                  <a:ext uri="{0D108BD9-81ED-4DB2-BD59-A6C34878D82A}">
                    <a16:rowId xmlns:a16="http://schemas.microsoft.com/office/drawing/2014/main" val="4133203443"/>
                  </a:ext>
                </a:extLst>
              </a:tr>
              <a:tr h="181306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Ismen et al. (2007)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Saroz Bay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28-370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 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120 - 317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5 - 86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93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0.00238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3.02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0.98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I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extLst>
                  <a:ext uri="{0D108BD9-81ED-4DB2-BD59-A6C34878D82A}">
                    <a16:rowId xmlns:a16="http://schemas.microsoft.com/office/drawing/2014/main" val="3726243892"/>
                  </a:ext>
                </a:extLst>
              </a:tr>
              <a:tr h="90653">
                <a:tc rowSpan="3"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Özütemiz et al. (2007)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 rowSpan="3"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Aegean Sea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 rowSpan="3"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-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F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90 - 190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-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130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0.004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2.85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0.88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A+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extLst>
                  <a:ext uri="{0D108BD9-81ED-4DB2-BD59-A6C34878D82A}">
                    <a16:rowId xmlns:a16="http://schemas.microsoft.com/office/drawing/2014/main" val="3846990038"/>
                  </a:ext>
                </a:extLst>
              </a:tr>
              <a:tr h="90653"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M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 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 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 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0.002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3.05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0.93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A+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extLst>
                  <a:ext uri="{0D108BD9-81ED-4DB2-BD59-A6C34878D82A}">
                    <a16:rowId xmlns:a16="http://schemas.microsoft.com/office/drawing/2014/main" val="634429340"/>
                  </a:ext>
                </a:extLst>
              </a:tr>
              <a:tr h="90653"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C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 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 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 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0.0025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3.04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0.88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A+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extLst>
                  <a:ext uri="{0D108BD9-81ED-4DB2-BD59-A6C34878D82A}">
                    <a16:rowId xmlns:a16="http://schemas.microsoft.com/office/drawing/2014/main" val="3651332103"/>
                  </a:ext>
                </a:extLst>
              </a:tr>
              <a:tr h="90653">
                <a:tc rowSpan="2"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Ragonese et al. (2009)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 rowSpan="2"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Central Mediterranean (Sicily)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 rowSpan="2"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200-800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 dirty="0">
                          <a:effectLst/>
                        </a:rPr>
                        <a:t>F</a:t>
                      </a:r>
                      <a:endParaRPr lang="tr-TR" sz="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70 - 590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 dirty="0">
                          <a:effectLst/>
                        </a:rPr>
                        <a:t>-</a:t>
                      </a:r>
                      <a:endParaRPr lang="tr-TR" sz="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-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0.000027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3.02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-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I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extLst>
                  <a:ext uri="{0D108BD9-81ED-4DB2-BD59-A6C34878D82A}">
                    <a16:rowId xmlns:a16="http://schemas.microsoft.com/office/drawing/2014/main" val="2015413132"/>
                  </a:ext>
                </a:extLst>
              </a:tr>
              <a:tr h="181306"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M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 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 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 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0.000041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2.95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-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I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extLst>
                  <a:ext uri="{0D108BD9-81ED-4DB2-BD59-A6C34878D82A}">
                    <a16:rowId xmlns:a16="http://schemas.microsoft.com/office/drawing/2014/main" val="3956726015"/>
                  </a:ext>
                </a:extLst>
              </a:tr>
              <a:tr h="90653">
                <a:tc rowSpan="3"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Güven et</a:t>
                      </a:r>
                      <a:endParaRPr lang="tr-TR" sz="800">
                        <a:effectLst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al. (2012)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 rowSpan="3"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Eastern Mediterranean</a:t>
                      </a:r>
                      <a:endParaRPr lang="tr-TR" sz="800">
                        <a:effectLst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(Antalya Bay)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 rowSpan="3"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 dirty="0">
                          <a:effectLst/>
                        </a:rPr>
                        <a:t>200-800</a:t>
                      </a:r>
                      <a:endParaRPr lang="tr-TR" sz="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F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115-575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4.6-693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267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0.0024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3.03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0.986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I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extLst>
                  <a:ext uri="{0D108BD9-81ED-4DB2-BD59-A6C34878D82A}">
                    <a16:rowId xmlns:a16="http://schemas.microsoft.com/office/drawing/2014/main" val="3415238169"/>
                  </a:ext>
                </a:extLst>
              </a:tr>
              <a:tr h="181306"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M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117-501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4.7-361.3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277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0.0028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2.97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0.976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I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extLst>
                  <a:ext uri="{0D108BD9-81ED-4DB2-BD59-A6C34878D82A}">
                    <a16:rowId xmlns:a16="http://schemas.microsoft.com/office/drawing/2014/main" val="4175166747"/>
                  </a:ext>
                </a:extLst>
              </a:tr>
              <a:tr h="90653"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C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115-575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4.6-693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544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0.0026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3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0.982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I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extLst>
                  <a:ext uri="{0D108BD9-81ED-4DB2-BD59-A6C34878D82A}">
                    <a16:rowId xmlns:a16="http://schemas.microsoft.com/office/drawing/2014/main" val="2348325033"/>
                  </a:ext>
                </a:extLst>
              </a:tr>
              <a:tr h="90653">
                <a:tc rowSpan="2"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Bottari et al. (2016)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 rowSpan="2"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Central Mediterranean (Sicily)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 rowSpan="2"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200-700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F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70 - 540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-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1572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-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 dirty="0">
                          <a:effectLst/>
                        </a:rPr>
                        <a:t>3</a:t>
                      </a:r>
                      <a:endParaRPr lang="tr-TR" sz="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-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I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extLst>
                  <a:ext uri="{0D108BD9-81ED-4DB2-BD59-A6C34878D82A}">
                    <a16:rowId xmlns:a16="http://schemas.microsoft.com/office/drawing/2014/main" val="2442069170"/>
                  </a:ext>
                </a:extLst>
              </a:tr>
              <a:tr h="181306"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M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80 - 550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 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 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 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 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 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 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extLst>
                  <a:ext uri="{0D108BD9-81ED-4DB2-BD59-A6C34878D82A}">
                    <a16:rowId xmlns:a16="http://schemas.microsoft.com/office/drawing/2014/main" val="3036738354"/>
                  </a:ext>
                </a:extLst>
              </a:tr>
              <a:tr h="90653">
                <a:tc rowSpan="2"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Metochis et al. (2016)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 rowSpan="2"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North-Western Aegean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 rowSpan="2"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200-450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F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-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 dirty="0">
                          <a:effectLst/>
                        </a:rPr>
                        <a:t>-</a:t>
                      </a:r>
                      <a:endParaRPr lang="tr-TR" sz="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452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-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3.34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-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A+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extLst>
                  <a:ext uri="{0D108BD9-81ED-4DB2-BD59-A6C34878D82A}">
                    <a16:rowId xmlns:a16="http://schemas.microsoft.com/office/drawing/2014/main" val="3557687983"/>
                  </a:ext>
                </a:extLst>
              </a:tr>
              <a:tr h="181306"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M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 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 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 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 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3.31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 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A+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extLst>
                  <a:ext uri="{0D108BD9-81ED-4DB2-BD59-A6C34878D82A}">
                    <a16:rowId xmlns:a16="http://schemas.microsoft.com/office/drawing/2014/main" val="634447250"/>
                  </a:ext>
                </a:extLst>
              </a:tr>
              <a:tr h="181306">
                <a:tc rowSpan="2"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Gönülal,  (2017)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 rowSpan="2"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North Aegean Sea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 rowSpan="2"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500-900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F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362 - 523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125 - 525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26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0.0003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3.65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0.95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A+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extLst>
                  <a:ext uri="{0D108BD9-81ED-4DB2-BD59-A6C34878D82A}">
                    <a16:rowId xmlns:a16="http://schemas.microsoft.com/office/drawing/2014/main" val="2843479320"/>
                  </a:ext>
                </a:extLst>
              </a:tr>
              <a:tr h="181306"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M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261 - 478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135 - 435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13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0.1746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2.08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0.85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A-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extLst>
                  <a:ext uri="{0D108BD9-81ED-4DB2-BD59-A6C34878D82A}">
                    <a16:rowId xmlns:a16="http://schemas.microsoft.com/office/drawing/2014/main" val="1561291192"/>
                  </a:ext>
                </a:extLst>
              </a:tr>
              <a:tr h="181306">
                <a:tc rowSpan="2"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Darna et al. (2018)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 rowSpan="2"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South Mediterranean (Algeria)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 rowSpan="2"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200-400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F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290 - 560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-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191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0.0085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2.80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0.93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A-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extLst>
                  <a:ext uri="{0D108BD9-81ED-4DB2-BD59-A6C34878D82A}">
                    <a16:rowId xmlns:a16="http://schemas.microsoft.com/office/drawing/2014/main" val="1626862592"/>
                  </a:ext>
                </a:extLst>
              </a:tr>
              <a:tr h="181306"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M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250 - 550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 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360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0.0035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2.90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0.93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A-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extLst>
                  <a:ext uri="{0D108BD9-81ED-4DB2-BD59-A6C34878D82A}">
                    <a16:rowId xmlns:a16="http://schemas.microsoft.com/office/drawing/2014/main" val="646712616"/>
                  </a:ext>
                </a:extLst>
              </a:tr>
              <a:tr h="181306">
                <a:tc rowSpan="2"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Cabbar and Yıgın, (2021)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 rowSpan="2"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North Aegean Sea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 rowSpan="2"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120-400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F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100 - 480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23 – 322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438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0.001706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3.14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0.97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A+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extLst>
                  <a:ext uri="{0D108BD9-81ED-4DB2-BD59-A6C34878D82A}">
                    <a16:rowId xmlns:a16="http://schemas.microsoft.com/office/drawing/2014/main" val="2121288064"/>
                  </a:ext>
                </a:extLst>
              </a:tr>
              <a:tr h="181306"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M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119 - 420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43.5 - 190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357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0.001688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3.14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0.97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A+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extLst>
                  <a:ext uri="{0D108BD9-81ED-4DB2-BD59-A6C34878D82A}">
                    <a16:rowId xmlns:a16="http://schemas.microsoft.com/office/drawing/2014/main" val="3228504357"/>
                  </a:ext>
                </a:extLst>
              </a:tr>
              <a:tr h="181306">
                <a:tc rowSpan="3"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D’Iglio et al. (2021)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 rowSpan="3"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South Tyrrhenian Sea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 rowSpan="3"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-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F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145 - 520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9.5 - 538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127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0.001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3.20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0.96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A+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extLst>
                  <a:ext uri="{0D108BD9-81ED-4DB2-BD59-A6C34878D82A}">
                    <a16:rowId xmlns:a16="http://schemas.microsoft.com/office/drawing/2014/main" val="2022343285"/>
                  </a:ext>
                </a:extLst>
              </a:tr>
              <a:tr h="90653"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M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 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 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 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0.003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2.95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0.99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A-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extLst>
                  <a:ext uri="{0D108BD9-81ED-4DB2-BD59-A6C34878D82A}">
                    <a16:rowId xmlns:a16="http://schemas.microsoft.com/office/drawing/2014/main" val="2584185156"/>
                  </a:ext>
                </a:extLst>
              </a:tr>
              <a:tr h="90653"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C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 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 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 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0.002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3.04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0.98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I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extLst>
                  <a:ext uri="{0D108BD9-81ED-4DB2-BD59-A6C34878D82A}">
                    <a16:rowId xmlns:a16="http://schemas.microsoft.com/office/drawing/2014/main" val="950075462"/>
                  </a:ext>
                </a:extLst>
              </a:tr>
              <a:tr h="90653">
                <a:tc rowSpan="2"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Karampetsis et al. (2022)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 rowSpan="2"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North Aegean Sea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 rowSpan="2"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108-607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F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95-560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-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3053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0.001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3.34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0.92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-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extLst>
                  <a:ext uri="{0D108BD9-81ED-4DB2-BD59-A6C34878D82A}">
                    <a16:rowId xmlns:a16="http://schemas.microsoft.com/office/drawing/2014/main" val="1376899458"/>
                  </a:ext>
                </a:extLst>
              </a:tr>
              <a:tr h="90653"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M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 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 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 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0.001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3.23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0.92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-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extLst>
                  <a:ext uri="{0D108BD9-81ED-4DB2-BD59-A6C34878D82A}">
                    <a16:rowId xmlns:a16="http://schemas.microsoft.com/office/drawing/2014/main" val="2179145278"/>
                  </a:ext>
                </a:extLst>
              </a:tr>
              <a:tr h="90653">
                <a:tc rowSpan="3"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Mutlu et al. (2022)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 rowSpan="3"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Eastern Mediterranean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 rowSpan="3"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-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F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130-510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-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132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0.0018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3.13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-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A+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extLst>
                  <a:ext uri="{0D108BD9-81ED-4DB2-BD59-A6C34878D82A}">
                    <a16:rowId xmlns:a16="http://schemas.microsoft.com/office/drawing/2014/main" val="1439515807"/>
                  </a:ext>
                </a:extLst>
              </a:tr>
              <a:tr h="90653"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M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 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 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 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0.0023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3.04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-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A+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extLst>
                  <a:ext uri="{0D108BD9-81ED-4DB2-BD59-A6C34878D82A}">
                    <a16:rowId xmlns:a16="http://schemas.microsoft.com/office/drawing/2014/main" val="1382548031"/>
                  </a:ext>
                </a:extLst>
              </a:tr>
              <a:tr h="90653"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C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 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 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 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0.0022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3.06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-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A+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extLst>
                  <a:ext uri="{0D108BD9-81ED-4DB2-BD59-A6C34878D82A}">
                    <a16:rowId xmlns:a16="http://schemas.microsoft.com/office/drawing/2014/main" val="3156936925"/>
                  </a:ext>
                </a:extLst>
              </a:tr>
              <a:tr h="181306">
                <a:tc rowSpan="3"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Present Study (2023)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 rowSpan="3"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Eastern Mediterranean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 rowSpan="3"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420 - 780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F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176-542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15.5-630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106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0.000001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3.13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0.97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A+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extLst>
                  <a:ext uri="{0D108BD9-81ED-4DB2-BD59-A6C34878D82A}">
                    <a16:rowId xmlns:a16="http://schemas.microsoft.com/office/drawing/2014/main" val="2062921734"/>
                  </a:ext>
                </a:extLst>
              </a:tr>
              <a:tr h="90653"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M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161-507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13 - 426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230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0.000004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2.94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0.98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A-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extLst>
                  <a:ext uri="{0D108BD9-81ED-4DB2-BD59-A6C34878D82A}">
                    <a16:rowId xmlns:a16="http://schemas.microsoft.com/office/drawing/2014/main" val="240990742"/>
                  </a:ext>
                </a:extLst>
              </a:tr>
              <a:tr h="90653"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C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161–542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13 - 630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336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0.000003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3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>
                          <a:effectLst/>
                        </a:rPr>
                        <a:t>0.98</a:t>
                      </a:r>
                      <a:endParaRPr lang="tr-T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tr-TR" sz="600" dirty="0">
                          <a:effectLst/>
                        </a:rPr>
                        <a:t>I</a:t>
                      </a:r>
                      <a:endParaRPr lang="tr-TR" sz="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7666" marR="47666" marT="0" marB="0" anchor="ctr"/>
                </a:tc>
                <a:extLst>
                  <a:ext uri="{0D108BD9-81ED-4DB2-BD59-A6C34878D82A}">
                    <a16:rowId xmlns:a16="http://schemas.microsoft.com/office/drawing/2014/main" val="14428173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91172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ctrTitle"/>
          </p:nvPr>
        </p:nvSpPr>
        <p:spPr>
          <a:xfrm>
            <a:off x="1403928" y="383454"/>
            <a:ext cx="9144000" cy="724910"/>
          </a:xfrm>
        </p:spPr>
        <p:txBody>
          <a:bodyPr>
            <a:normAutofit fontScale="90000"/>
          </a:bodyPr>
          <a:lstStyle/>
          <a:p>
            <a:r>
              <a:rPr lang="tr-TR" sz="1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Length-weight</a:t>
            </a:r>
            <a:r>
              <a:rPr lang="tr-TR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</a:t>
            </a:r>
            <a:r>
              <a:rPr lang="tr-TR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tr-TR" sz="1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tr-TR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blackmouth</a:t>
            </a:r>
            <a:r>
              <a:rPr lang="tr-TR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catshark</a:t>
            </a:r>
            <a:r>
              <a:rPr lang="tr-TR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tr-TR" sz="1800" b="1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Galeus</a:t>
            </a:r>
            <a:r>
              <a:rPr lang="tr-TR" sz="1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b="1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melastomus</a:t>
            </a:r>
            <a:r>
              <a:rPr lang="tr-TR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Rafinesque</a:t>
            </a:r>
            <a:r>
              <a:rPr lang="tr-TR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1810) on </a:t>
            </a:r>
            <a:r>
              <a:rPr lang="tr-TR" sz="1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tr-TR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Turkish</a:t>
            </a:r>
            <a:r>
              <a:rPr lang="tr-TR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coasts</a:t>
            </a:r>
            <a:r>
              <a:rPr lang="tr-TR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tr-TR" sz="1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tr-TR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Mediterranean</a:t>
            </a:r>
            <a:r>
              <a:rPr lang="tr-TR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Sea</a:t>
            </a:r>
            <a:r>
              <a:rPr lang="tr-TR" sz="1200" dirty="0" smtClean="0"/>
              <a:t/>
            </a:r>
            <a:br>
              <a:rPr lang="tr-TR" sz="1200" dirty="0" smtClean="0"/>
            </a:br>
            <a:endParaRPr lang="tr-TR" sz="1200" dirty="0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1403928" y="2373746"/>
            <a:ext cx="9144000" cy="3232728"/>
          </a:xfrm>
        </p:spPr>
        <p:txBody>
          <a:bodyPr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tr-TR" sz="1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Length-weight</a:t>
            </a:r>
            <a:r>
              <a:rPr lang="tr-TR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relationships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serve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multiple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purposes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including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converting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lengths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into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biomass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assessing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fish 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condition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comparing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fish 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growth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across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different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areas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enhancing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species-specific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studies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reproduction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feeding</a:t>
            </a:r>
            <a:r>
              <a:rPr lang="tr-TR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Elasmobranchs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play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crucial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role in 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marine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ecosystems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but 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severely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affected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human-induced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activities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Mediterranean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reason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 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wide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range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biological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ecological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data, 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including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length-weight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relationships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essential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effectively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managing</a:t>
            </a:r>
            <a:r>
              <a:rPr lang="tr-TR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them</a:t>
            </a:r>
            <a:r>
              <a:rPr lang="tr-TR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tr-TR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tr-TR" sz="1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athering</a:t>
            </a:r>
            <a:r>
              <a:rPr lang="tr-TR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long-term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fishery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to 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evaluate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cartilaginous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populations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ensure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their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sustainability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imperative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Ongoing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monitoring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essential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safeguarding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these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highly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threatened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organisms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tr-TR" dirty="0" smtClean="0"/>
              <a:t/>
            </a:r>
            <a:br>
              <a:rPr lang="tr-TR" dirty="0" smtClean="0"/>
            </a:b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6419420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1179</Words>
  <Application>Microsoft Office PowerPoint</Application>
  <PresentationFormat>Geniş ekran</PresentationFormat>
  <Paragraphs>340</Paragraphs>
  <Slides>6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Times New Roman</vt:lpstr>
      <vt:lpstr>Office Teması</vt:lpstr>
      <vt:lpstr>Length-weight relationship of the blackmouth catshark (Galeus melastomus Rafinesque, 1810) on the Turkish coasts of the Mediterranean Sea </vt:lpstr>
      <vt:lpstr>Length-weight relationship of the blackmouth catshark (Galeus melastomus Rafinesque, 1810) on the Turkish coasts of the Mediterranean Sea </vt:lpstr>
      <vt:lpstr>Length-weight relationship of the blackmouth catshark (Galeus melastomus Rafinesque, 1810) on the Turkish coasts of the Mediterranean Sea </vt:lpstr>
      <vt:lpstr>Length-weight relationship of the blackmouth catshark (Galeus melastomus Rafinesque, 1810) on the Turkish coasts of the Mediterranean Sea </vt:lpstr>
      <vt:lpstr>Length-weight relationship of the blackmouth catshark (Galeus melastomus Rafinesque, 1810) on the Turkish coasts of the Mediterranean Sea </vt:lpstr>
      <vt:lpstr>Length-weight relationship of the blackmouth catshark (Galeus melastomus Rafinesque, 1810) on the Turkish coasts of the Mediterranean Sea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creator>Çağdaş can cengiz</dc:creator>
  <cp:lastModifiedBy>Çağdaş can cengiz</cp:lastModifiedBy>
  <cp:revision>7</cp:revision>
  <dcterms:created xsi:type="dcterms:W3CDTF">2024-08-02T11:11:05Z</dcterms:created>
  <dcterms:modified xsi:type="dcterms:W3CDTF">2024-08-02T12:52:49Z</dcterms:modified>
</cp:coreProperties>
</file>